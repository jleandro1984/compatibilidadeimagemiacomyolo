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ShelfVision MVP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Detecção de Marcas em Gôndola</a:t>
            </a:r>
          </a:p>
          <a:p>
            <a:r>
              <a:t>Apresentação técnica e executiva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Visão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Projeto: ShelfVision MVP</a:t>
            </a:r>
          </a:p>
          <a:p>
            <a:pPr>
              <a:defRPr sz="2000"/>
            </a:pPr>
            <a:r>
              <a:t>Objetivo: Identificar marcas em imagens de gôndola com pipeline híbrido (frontend local + backend YOLO opcional)</a:t>
            </a:r>
          </a:p>
          <a:p>
            <a:pPr>
              <a:defRPr sz="2000"/>
            </a:pPr>
            <a:r>
              <a:t>Resultado final: Relatório automático com marcas, contagem, layout e confiança</a:t>
            </a:r>
          </a:p>
          <a:p>
            <a:pPr>
              <a:defRPr sz="2000"/>
            </a:pPr>
            <a:r>
              <a:t>Mensagem-chave: Funciona offline no modo local e ganha precisão quando o backend YOLO está 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Problema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Auditoria de gôndola manual é lenta e subjetiva</a:t>
            </a:r>
          </a:p>
          <a:p>
            <a:pPr>
              <a:defRPr sz="2000"/>
            </a:pPr>
            <a:r>
              <a:t>Difícil padronizar identificação de marca por inspeção humana</a:t>
            </a:r>
          </a:p>
          <a:p>
            <a:pPr>
              <a:defRPr sz="2000"/>
            </a:pPr>
            <a:r>
              <a:t>Necessidade de resposta rápida para execução no PDV</a:t>
            </a:r>
          </a:p>
          <a:p>
            <a:pPr>
              <a:defRPr sz="2000"/>
            </a:pPr>
            <a:r>
              <a:t>Valor entregue: análise semi-automatizada e rastreável por evidências de 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Arquitetura da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Usuário envia imagem no frontend</a:t>
            </a:r>
          </a:p>
          <a:p>
            <a:pPr>
              <a:defRPr sz="2000"/>
            </a:pPr>
            <a:r>
              <a:t>2) Frontend opcionalmente consulta POST /detect no backend YOLO</a:t>
            </a:r>
          </a:p>
          <a:p>
            <a:pPr>
              <a:defRPr sz="2000"/>
            </a:pPr>
            <a:r>
              <a:t>3) Frontend roda modelos locais (COCO-SSD, OCR, heurísticas, semântica)</a:t>
            </a:r>
          </a:p>
          <a:p>
            <a:pPr>
              <a:defRPr sz="2000"/>
            </a:pPr>
            <a:r>
              <a:t>4) Motor de fusão valida evidências e gera relatório</a:t>
            </a:r>
          </a:p>
          <a:p>
            <a:pPr>
              <a:defRPr sz="2000"/>
            </a:pPr>
            <a:r>
              <a:t>Fallback: se backend cair, o pipeline local continua.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IAs Utilizadas e Função de Cada 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YOLOv8 custom (Ultralytics/FastAPI): detecção direta de marcas via bbox + confiança</a:t>
            </a:r>
          </a:p>
          <a:p>
            <a:pPr>
              <a:defRPr sz="2000"/>
            </a:pPr>
            <a:r>
              <a:t>COCO-SSD (TensorFlow.js): detecta objetos genéricos/embalagens para segmentação inicial</a:t>
            </a:r>
          </a:p>
          <a:p>
            <a:pPr>
              <a:defRPr sz="2000"/>
            </a:pPr>
            <a:r>
              <a:t>Tesseract.js (OCR): lê texto/logo para confirmar marca</a:t>
            </a:r>
          </a:p>
          <a:p>
            <a:pPr>
              <a:defRPr sz="2000"/>
            </a:pPr>
            <a:r>
              <a:t>Universal Sentence Encoder (TensorFlow.js): mede compatibilidade entre descrição esperada e marcas detectadas</a:t>
            </a:r>
          </a:p>
          <a:p>
            <a:pPr>
              <a:defRPr sz="2000"/>
            </a:pPr>
            <a:r>
              <a:t>Heurísticas visuais (HSB + regras): reforço por assinatura de cor e padrão de repetição</a:t>
            </a:r>
          </a:p>
          <a:p>
            <a:pPr>
              <a:defRPr sz="2000"/>
            </a:pPr>
            <a:r>
              <a:t>Mensagem-chave: sistema multimodal de evidências.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Fluxo de Decisão (Prioridade)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YOLO acima do threshold configurado</a:t>
            </a:r>
          </a:p>
          <a:p>
            <a:pPr>
              <a:defRPr sz="2000"/>
            </a:pPr>
            <a:r>
              <a:t>2) OCR + catálogo de marcas (brands.json)</a:t>
            </a:r>
          </a:p>
          <a:p>
            <a:pPr>
              <a:defRPr sz="2000"/>
            </a:pPr>
            <a:r>
              <a:t>3) Heurísticas visuais (cor/geometria/repetição)</a:t>
            </a:r>
          </a:p>
          <a:p>
            <a:pPr>
              <a:defRPr sz="2000"/>
            </a:pPr>
            <a:r>
              <a:t>4) Se não houver evidência suficiente: Marca não identificada</a:t>
            </a:r>
          </a:p>
          <a:p>
            <a:pPr>
              <a:defRPr sz="2000"/>
            </a:pPr>
            <a:r>
              <a:t>Benefício: redução de falso positivo por múltiplos sinais.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— YOLO: Como Funciona (didático)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YOLO processa a imagem em uma única passada</a:t>
            </a:r>
          </a:p>
          <a:p>
            <a:pPr>
              <a:defRPr sz="2000"/>
            </a:pPr>
            <a:r>
              <a:t>Cada detecção retorna classe, confiança e bounding box</a:t>
            </a:r>
          </a:p>
          <a:p>
            <a:pPr>
              <a:defRPr sz="2000"/>
            </a:pPr>
            <a:r>
              <a:t>Pós-processamento aplica confidence threshold e IoU/NMS</a:t>
            </a:r>
          </a:p>
          <a:p>
            <a:pPr>
              <a:defRPr sz="2000"/>
            </a:pPr>
            <a:r>
              <a:t>No backend a resposta é padronizada em: label, confidence, bbox [x, y, width, height]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— Dataset e Treinamento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Configuração central em data.yaml</a:t>
            </a:r>
          </a:p>
          <a:p>
            <a:pPr>
              <a:defRPr sz="2000"/>
            </a:pPr>
            <a:r>
              <a:t>Estrutura YOLO: dataset/images/train|val e dataset/labels/train|val</a:t>
            </a:r>
          </a:p>
          <a:p>
            <a:pPr>
              <a:defRPr sz="2000"/>
            </a:pPr>
            <a:r>
              <a:t>Treino principal via python train-model.py</a:t>
            </a:r>
          </a:p>
          <a:p>
            <a:pPr>
              <a:defRPr sz="2000"/>
            </a:pPr>
            <a:r>
              <a:t>Base: yolov8n.pt</a:t>
            </a:r>
          </a:p>
          <a:p>
            <a:pPr>
              <a:defRPr sz="2000"/>
            </a:pPr>
            <a:r>
              <a:t>Hiperparâmetros atuais: epochs=50, imgsz=640, patience=20, device=cpu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— Arquivos Gerados Após Treinar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Pasta principal: runs/detect/brand_detection/</a:t>
            </a:r>
          </a:p>
          <a:p>
            <a:pPr>
              <a:defRPr sz="2000"/>
            </a:pPr>
            <a:r>
              <a:t>weights/best.pt: melhor checkpoint</a:t>
            </a:r>
          </a:p>
          <a:p>
            <a:pPr>
              <a:defRPr sz="2000"/>
            </a:pPr>
            <a:r>
              <a:t>weights/last.pt: último checkpoint</a:t>
            </a:r>
          </a:p>
          <a:p>
            <a:pPr>
              <a:defRPr sz="2000"/>
            </a:pPr>
            <a:r>
              <a:t>results.csv: métricas por época</a:t>
            </a:r>
          </a:p>
          <a:p>
            <a:pPr>
              <a:defRPr sz="2000"/>
            </a:pPr>
            <a:r>
              <a:t>Gráficos: results.png, PR_curve.png, F1_curve.png, confusion_matrix.png</a:t>
            </a:r>
          </a:p>
          <a:p>
            <a:pPr>
              <a:defRPr sz="2000"/>
            </a:pPr>
            <a:r>
              <a:t>Pós-treino: best.pt é copiado para backend/model/best.pt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— Backend de Inferência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API FastAPI com GET /health e POST /detect</a:t>
            </a:r>
          </a:p>
          <a:p>
            <a:pPr>
              <a:defRPr sz="2000"/>
            </a:pPr>
            <a:r>
              <a:t>Configuração por variáveis de ambiente (model path, confidence, iou, mock mode)</a:t>
            </a:r>
          </a:p>
          <a:p>
            <a:pPr>
              <a:defRPr sz="2000"/>
            </a:pPr>
            <a:r>
              <a:t>Modo mock para teste de integração</a:t>
            </a:r>
          </a:p>
          <a:p>
            <a:pPr>
              <a:defRPr sz="2000"/>
            </a:pPr>
            <a:r>
              <a:t>Modo YOLO real com modelo treinado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— Frontend e Relatório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Upload + preview + detecção híbrida opcional</a:t>
            </a:r>
          </a:p>
          <a:p>
            <a:pPr>
              <a:defRPr sz="2000"/>
            </a:pPr>
            <a:r>
              <a:t>Consolidação por fonte: YOLO, OCR, Visual, COCO</a:t>
            </a:r>
          </a:p>
          <a:p>
            <a:pPr>
              <a:defRPr sz="2000"/>
            </a:pPr>
            <a:r>
              <a:t>Relatório com marcas detectadas, contagem e total</a:t>
            </a:r>
          </a:p>
          <a:p>
            <a:pPr>
              <a:defRPr sz="2000"/>
            </a:pPr>
            <a:r>
              <a:t>Distribuição na prateleira (esquerda/centro/direita)</a:t>
            </a:r>
          </a:p>
          <a:p>
            <a:pPr>
              <a:defRPr sz="2000"/>
            </a:pPr>
            <a:r>
              <a:t>Confiança por marca e observações por evidência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— Demo (Roteiro de 3 Minutos)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Subir frontend: start-frontend.bat</a:t>
            </a:r>
          </a:p>
          <a:p>
            <a:pPr>
              <a:defRPr sz="2000"/>
            </a:pPr>
            <a:r>
              <a:t>2) Subir backend real: start-backend-real.bat</a:t>
            </a:r>
          </a:p>
          <a:p>
            <a:pPr>
              <a:defRPr sz="2000"/>
            </a:pPr>
            <a:r>
              <a:t>3) Ativar 'Usar backend YOLO' e testar conexão</a:t>
            </a:r>
          </a:p>
          <a:p>
            <a:pPr>
              <a:defRPr sz="2000"/>
            </a:pPr>
            <a:r>
              <a:t>4) Enviar imagem e mostrar caixas, resumo e relatório</a:t>
            </a:r>
          </a:p>
          <a:p>
            <a:pPr>
              <a:defRPr sz="2000"/>
            </a:pPr>
            <a:r>
              <a:t>5) Repetir com backend desligado para mostrar fallback local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— Pontos de Atenção (visão sênior)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Dataset ainda pequeno para alta robustez em produção</a:t>
            </a:r>
          </a:p>
          <a:p>
            <a:pPr>
              <a:defRPr sz="2000"/>
            </a:pPr>
            <a:r>
              <a:t>Qualidade do OCR cai com baixa resolução/oclusão</a:t>
            </a:r>
          </a:p>
          <a:p>
            <a:pPr>
              <a:defRPr sz="2000"/>
            </a:pPr>
            <a:r>
              <a:t>Balanceamento de classes e diversidade de cenários impactam mais que só aumentar épocas</a:t>
            </a:r>
          </a:p>
          <a:p>
            <a:pPr>
              <a:defRPr sz="2000"/>
            </a:pPr>
            <a:r>
              <a:t>Threshold por marca pode melhorar precisão (em vez de threshold único)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—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Aumentar dataset por marca e diversidade de ambiente</a:t>
            </a:r>
          </a:p>
          <a:p>
            <a:pPr>
              <a:defRPr sz="2000"/>
            </a:pPr>
            <a:r>
              <a:t>Testar modelos maiores (yolov8m/yolov8l) para precisão x latência</a:t>
            </a:r>
          </a:p>
          <a:p>
            <a:pPr>
              <a:defRPr sz="2000"/>
            </a:pPr>
            <a:r>
              <a:t>Versionar experimentos e métricas (MLOps básico)</a:t>
            </a:r>
          </a:p>
          <a:p>
            <a:pPr>
              <a:defRPr sz="2000"/>
            </a:pPr>
            <a:r>
              <a:t>Exportar para ONNX/TensorFlow.js para reduzir dependência de backend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—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Projeto já entrega valor como MVP funcional</a:t>
            </a:r>
          </a:p>
          <a:p>
            <a:pPr>
              <a:defRPr sz="2000"/>
            </a:pPr>
            <a:r>
              <a:t>Arquitetura híbrida reduz risco operacional (fallback local)</a:t>
            </a:r>
          </a:p>
          <a:p>
            <a:pPr>
              <a:defRPr sz="2000"/>
            </a:pPr>
            <a:r>
              <a:t>Estratégia multimodelo aumenta qualidade de decisão</a:t>
            </a:r>
          </a:p>
          <a:p>
            <a:pPr>
              <a:defRPr sz="2000"/>
            </a:pPr>
            <a:r>
              <a:t>Próximo ganho relevante: escala de dataset + governança de treino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